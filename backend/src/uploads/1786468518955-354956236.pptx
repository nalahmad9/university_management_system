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2011680"/>
            <a:ext cx="6400800" cy="6400800"/>
          </a:xfrm>
          <a:prstGeom prst="ellipse">
            <a:avLst/>
          </a:prstGeom>
          <a:solidFill>
            <a:srgbClr val="1ED760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3291840"/>
            <a:ext cx="3840480" cy="3840480"/>
          </a:xfrm>
          <a:prstGeom prst="ellipse">
            <a:avLst/>
          </a:prstGeom>
          <a:solidFill>
            <a:srgbClr val="1ED760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ED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PROPOSAL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1874520"/>
            <a:ext cx="9601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Spotify Feature</a:t>
            </a:r>
            <a:endParaRPr lang="en-US" sz="54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Proposals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640080" y="3977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Music More Personal &amp; Social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40080" y="4892040"/>
            <a:ext cx="2331720" cy="502920"/>
          </a:xfrm>
          <a:prstGeom prst="roundRect">
            <a:avLst>
              <a:gd name="adj" fmla="val 50909"/>
            </a:avLst>
          </a:prstGeom>
          <a:solidFill>
            <a:srgbClr val="191919"/>
          </a:solidFill>
          <a:ln w="12700">
            <a:solidFill>
              <a:srgbClr val="2A2A2A"/>
            </a:solidFill>
            <a:prstDash val="solid"/>
          </a:ln>
        </p:spPr>
      </p:sp>
      <p:pic>
        <p:nvPicPr>
          <p:cNvPr id="8" name="Image 0" descr="/home/claude/spotify_deck/icon_heart_gre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5010912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25296" y="489204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Mood Timeline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154680" y="4892040"/>
            <a:ext cx="2788920" cy="502920"/>
          </a:xfrm>
          <a:prstGeom prst="roundRect">
            <a:avLst>
              <a:gd name="adj" fmla="val 50909"/>
            </a:avLst>
          </a:prstGeom>
          <a:solidFill>
            <a:srgbClr val="191919"/>
          </a:solidFill>
          <a:ln w="12700">
            <a:solidFill>
              <a:srgbClr val="2A2A2A"/>
            </a:solidFill>
            <a:prstDash val="solid"/>
          </a:ln>
        </p:spPr>
      </p:sp>
      <p:pic>
        <p:nvPicPr>
          <p:cNvPr id="11" name="Image 1" descr="/home/claude/spotify_deck/icon_vote_gre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5848" y="5010912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739896" y="48920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Queue Voting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SPOTIFY  •  PRODUCT PROPOSAL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10972800" y="6537960"/>
            <a:ext cx="75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ED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gaps in the listening experience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5074920" cy="3749040"/>
          </a:xfrm>
          <a:prstGeom prst="roundRect">
            <a:avLst>
              <a:gd name="adj" fmla="val 2927"/>
            </a:avLst>
          </a:prstGeom>
          <a:solidFill>
            <a:srgbClr val="191919"/>
          </a:solidFill>
          <a:ln/>
        </p:spPr>
      </p:sp>
      <p:sp>
        <p:nvSpPr>
          <p:cNvPr id="5" name="Shape 3"/>
          <p:cNvSpPr/>
          <p:nvPr/>
        </p:nvSpPr>
        <p:spPr>
          <a:xfrm>
            <a:off x="1097280" y="2606040"/>
            <a:ext cx="822960" cy="822960"/>
          </a:xfrm>
          <a:prstGeom prst="ellipse">
            <a:avLst/>
          </a:prstGeom>
          <a:solidFill>
            <a:srgbClr val="132118"/>
          </a:solidFill>
          <a:ln/>
        </p:spPr>
      </p:sp>
      <p:pic>
        <p:nvPicPr>
          <p:cNvPr id="6" name="Image 0" descr="/home/claude/spotify_deck/icon_heart_gre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4790" y="2803550"/>
            <a:ext cx="427939" cy="42793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3630168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D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 GAP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097280" y="3977640"/>
            <a:ext cx="4160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Music choices are</a:t>
            </a:r>
            <a:endParaRPr lang="en-US" sz="21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emotional — Spotify</a:t>
            </a:r>
            <a:endParaRPr lang="en-US" sz="21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isn't listening.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1097280" y="5029200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choose music based on how they feel in the moment, but Spotify doesn't capture this emotional insight, so recommendations miss real intent.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217920" y="2148840"/>
            <a:ext cx="5074920" cy="3749040"/>
          </a:xfrm>
          <a:prstGeom prst="roundRect">
            <a:avLst>
              <a:gd name="adj" fmla="val 2927"/>
            </a:avLst>
          </a:prstGeom>
          <a:solidFill>
            <a:srgbClr val="191919"/>
          </a:solidFill>
          <a:ln/>
        </p:spPr>
      </p:sp>
      <p:sp>
        <p:nvSpPr>
          <p:cNvPr id="11" name="Shape 8"/>
          <p:cNvSpPr/>
          <p:nvPr/>
        </p:nvSpPr>
        <p:spPr>
          <a:xfrm>
            <a:off x="6675120" y="2606040"/>
            <a:ext cx="822960" cy="822960"/>
          </a:xfrm>
          <a:prstGeom prst="ellipse">
            <a:avLst/>
          </a:prstGeom>
          <a:solidFill>
            <a:srgbClr val="132118"/>
          </a:solidFill>
          <a:ln/>
        </p:spPr>
      </p:sp>
      <p:pic>
        <p:nvPicPr>
          <p:cNvPr id="12" name="Image 1" descr="/home/claude/spotify_deck/icon_users_gre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2630" y="2803550"/>
            <a:ext cx="427939" cy="42793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675120" y="3630168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D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FAIRNESS GAP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6675120" y="3977640"/>
            <a:ext cx="4160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sessions favor</a:t>
            </a:r>
            <a:endParaRPr lang="en-US" sz="21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person, not</a:t>
            </a:r>
            <a:endParaRPr lang="en-US" sz="21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group.</a:t>
            </a:r>
            <a:endParaRPr lang="en-US" sz="2100" dirty="0"/>
          </a:p>
        </p:txBody>
      </p:sp>
      <p:sp>
        <p:nvSpPr>
          <p:cNvPr id="15" name="Text 11"/>
          <p:cNvSpPr/>
          <p:nvPr/>
        </p:nvSpPr>
        <p:spPr>
          <a:xfrm>
            <a:off x="6675120" y="5029200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listening sessions lack fairness — a single person controls the queue while everyone else just listens along.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SPOTIFY  •  PRODUCT PROPOSAL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10972800" y="6537960"/>
            <a:ext cx="75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1005840"/>
            <a:ext cx="5120640" cy="5120640"/>
          </a:xfrm>
          <a:prstGeom prst="ellipse">
            <a:avLst/>
          </a:prstGeom>
          <a:solidFill>
            <a:srgbClr val="1ED760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1051560"/>
            <a:ext cx="2148840" cy="502920"/>
          </a:xfrm>
          <a:prstGeom prst="roundRect">
            <a:avLst>
              <a:gd name="adj" fmla="val 50909"/>
            </a:avLst>
          </a:prstGeom>
          <a:solidFill>
            <a:srgbClr val="14833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5156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1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94360" y="1874520"/>
            <a:ext cx="9601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5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Mood</a:t>
            </a:r>
            <a:endParaRPr lang="en-US" sz="5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5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Timeline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640080" y="3977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1ED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Emotional personalization, reimagined.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9646920" y="4206240"/>
            <a:ext cx="1554480" cy="1554480"/>
          </a:xfrm>
          <a:prstGeom prst="ellipse">
            <a:avLst/>
          </a:prstGeom>
          <a:solidFill>
            <a:srgbClr val="1F1F1F"/>
          </a:solidFill>
          <a:ln/>
        </p:spPr>
      </p:sp>
      <p:pic>
        <p:nvPicPr>
          <p:cNvPr id="8" name="Image 0" descr="/home/claude/spotify_deck/icon_hear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1085" y="4610405"/>
            <a:ext cx="746150" cy="74615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SPOTIFY  •  PRODUCT PROPOSAL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0972800" y="6537960"/>
            <a:ext cx="75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ED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MOOD TIMELINE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3429000" cy="3749040"/>
          </a:xfrm>
          <a:prstGeom prst="roundRect">
            <a:avLst>
              <a:gd name="adj" fmla="val 3200"/>
            </a:avLst>
          </a:prstGeom>
          <a:solidFill>
            <a:srgbClr val="191919"/>
          </a:solidFill>
          <a:ln/>
        </p:spPr>
      </p:sp>
      <p:sp>
        <p:nvSpPr>
          <p:cNvPr id="5" name="Shape 3"/>
          <p:cNvSpPr/>
          <p:nvPr/>
        </p:nvSpPr>
        <p:spPr>
          <a:xfrm>
            <a:off x="1005840" y="2560320"/>
            <a:ext cx="731520" cy="731520"/>
          </a:xfrm>
          <a:prstGeom prst="ellipse">
            <a:avLst/>
          </a:prstGeom>
          <a:solidFill>
            <a:srgbClr val="132118"/>
          </a:solidFill>
          <a:ln/>
        </p:spPr>
      </p:sp>
      <p:pic>
        <p:nvPicPr>
          <p:cNvPr id="6" name="Image 0" descr="/home/claude/spotify_deck/icon_heart_gre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1405" y="2735885"/>
            <a:ext cx="380390" cy="3803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352044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Does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005840" y="3931920"/>
            <a:ext cx="2697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user emotions during listening and creates a visual timeline of mood over time.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379976" y="2148840"/>
            <a:ext cx="3429000" cy="3749040"/>
          </a:xfrm>
          <a:prstGeom prst="roundRect">
            <a:avLst>
              <a:gd name="adj" fmla="val 3200"/>
            </a:avLst>
          </a:prstGeom>
          <a:solidFill>
            <a:srgbClr val="191919"/>
          </a:solidFill>
          <a:ln/>
        </p:spPr>
      </p:sp>
      <p:sp>
        <p:nvSpPr>
          <p:cNvPr id="10" name="Shape 7"/>
          <p:cNvSpPr/>
          <p:nvPr/>
        </p:nvSpPr>
        <p:spPr>
          <a:xfrm>
            <a:off x="4745736" y="2560320"/>
            <a:ext cx="731520" cy="731520"/>
          </a:xfrm>
          <a:prstGeom prst="ellipse">
            <a:avLst/>
          </a:prstGeom>
          <a:solidFill>
            <a:srgbClr val="132118"/>
          </a:solidFill>
          <a:ln/>
        </p:spPr>
      </p:sp>
      <p:pic>
        <p:nvPicPr>
          <p:cNvPr id="11" name="Image 1" descr="/home/claude/spotify_deck/icon_chat_gre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1301" y="2735885"/>
            <a:ext cx="380390" cy="38039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45736" y="352044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4745736" y="3931920"/>
            <a:ext cx="2697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Spotify occasionally asks “How are you feeling?” — Happy, Calm, Tired, Sad, or Motivated.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119872" y="2148840"/>
            <a:ext cx="3429000" cy="3749040"/>
          </a:xfrm>
          <a:prstGeom prst="roundRect">
            <a:avLst>
              <a:gd name="adj" fmla="val 3200"/>
            </a:avLst>
          </a:prstGeom>
          <a:solidFill>
            <a:srgbClr val="191919"/>
          </a:solidFill>
          <a:ln/>
        </p:spPr>
      </p:sp>
      <p:sp>
        <p:nvSpPr>
          <p:cNvPr id="15" name="Shape 11"/>
          <p:cNvSpPr/>
          <p:nvPr/>
        </p:nvSpPr>
        <p:spPr>
          <a:xfrm>
            <a:off x="8485632" y="2560320"/>
            <a:ext cx="731520" cy="731520"/>
          </a:xfrm>
          <a:prstGeom prst="ellipse">
            <a:avLst/>
          </a:prstGeom>
          <a:solidFill>
            <a:srgbClr val="132118"/>
          </a:solidFill>
          <a:ln/>
        </p:spPr>
      </p:sp>
      <p:pic>
        <p:nvPicPr>
          <p:cNvPr id="16" name="Image 2" descr="/home/claude/spotify_deck/icon_sparkles_gree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1197" y="2735885"/>
            <a:ext cx="380390" cy="38039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85632" y="352044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Payoff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8485632" y="3931920"/>
            <a:ext cx="2697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Smarter recommendations, driven by real emotional patterns rather than plays alone.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SPOTIFY  •  PRODUCT PROPOSAL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0972800" y="6537960"/>
            <a:ext cx="75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ED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MOOD TIMELINE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flow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234440" y="2359152"/>
            <a:ext cx="0" cy="3566160"/>
          </a:xfrm>
          <a:prstGeom prst="line">
            <a:avLst/>
          </a:prstGeom>
          <a:noFill/>
          <a:ln w="25400">
            <a:solidFill>
              <a:srgbClr val="2A2A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78408" y="2103120"/>
            <a:ext cx="512064" cy="512064"/>
          </a:xfrm>
          <a:prstGeom prst="ellipse">
            <a:avLst/>
          </a:prstGeom>
          <a:solidFill>
            <a:srgbClr val="1F1F1F"/>
          </a:solidFill>
          <a:ln w="19050">
            <a:solidFill>
              <a:srgbClr val="1ED7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78408" y="21031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D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737360" y="2084832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Listen normally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978408" y="2816352"/>
            <a:ext cx="512064" cy="512064"/>
          </a:xfrm>
          <a:prstGeom prst="ellipse">
            <a:avLst/>
          </a:prstGeom>
          <a:solidFill>
            <a:srgbClr val="1F1F1F"/>
          </a:solidFill>
          <a:ln w="19050">
            <a:solidFill>
              <a:srgbClr val="1ED7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78408" y="281635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D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737360" y="2798064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 mood check-in appears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978408" y="3529584"/>
            <a:ext cx="512064" cy="512064"/>
          </a:xfrm>
          <a:prstGeom prst="ellipse">
            <a:avLst/>
          </a:prstGeom>
          <a:solidFill>
            <a:srgbClr val="1F1F1F"/>
          </a:solidFill>
          <a:ln w="19050">
            <a:solidFill>
              <a:srgbClr val="1ED7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352958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D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737360" y="3511296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a mood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737360" y="3858768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ED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Happy · Calm · Tired · Sad · Motivated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978408" y="4242816"/>
            <a:ext cx="512064" cy="512064"/>
          </a:xfrm>
          <a:prstGeom prst="ellipse">
            <a:avLst/>
          </a:prstGeom>
          <a:solidFill>
            <a:srgbClr val="1F1F1F"/>
          </a:solidFill>
          <a:ln w="19050">
            <a:solidFill>
              <a:srgbClr val="1ED7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78408" y="424281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D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737360" y="4224528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merges with listening history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978408" y="4956048"/>
            <a:ext cx="512064" cy="512064"/>
          </a:xfrm>
          <a:prstGeom prst="ellipse">
            <a:avLst/>
          </a:prstGeom>
          <a:solidFill>
            <a:srgbClr val="1F1F1F"/>
          </a:solidFill>
          <a:ln w="19050">
            <a:solidFill>
              <a:srgbClr val="1ED76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78408" y="49560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D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737360" y="49377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timeline reveals patterns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978408" y="5669280"/>
            <a:ext cx="512064" cy="512064"/>
          </a:xfrm>
          <a:prstGeom prst="ellipse">
            <a:avLst/>
          </a:prstGeom>
          <a:solidFill>
            <a:srgbClr val="1ED760"/>
          </a:solidFill>
          <a:ln w="19050">
            <a:solidFill>
              <a:srgbClr val="1ED76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78408" y="56692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737360" y="5650992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 improve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9464040" y="2103120"/>
            <a:ext cx="2084832" cy="4206240"/>
          </a:xfrm>
          <a:prstGeom prst="roundRect">
            <a:avLst>
              <a:gd name="adj" fmla="val 5263"/>
            </a:avLst>
          </a:prstGeom>
          <a:solidFill>
            <a:srgbClr val="191919"/>
          </a:solidFill>
          <a:ln/>
        </p:spPr>
      </p:sp>
      <p:sp>
        <p:nvSpPr>
          <p:cNvPr id="25" name="Shape 23"/>
          <p:cNvSpPr/>
          <p:nvPr/>
        </p:nvSpPr>
        <p:spPr>
          <a:xfrm>
            <a:off x="9829800" y="2514600"/>
            <a:ext cx="1371600" cy="1371600"/>
          </a:xfrm>
          <a:prstGeom prst="ellipse">
            <a:avLst/>
          </a:prstGeom>
          <a:solidFill>
            <a:srgbClr val="132118"/>
          </a:solidFill>
          <a:ln/>
        </p:spPr>
      </p:sp>
      <p:pic>
        <p:nvPicPr>
          <p:cNvPr id="26" name="Image 0" descr="/home/claude/spotify_deck/icon_timeline_gre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72700" y="2857500"/>
            <a:ext cx="685800" cy="685800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9646920" y="416052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Mood signals</a:t>
            </a:r>
            <a:endParaRPr lang="en-US" sz="12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become smarter</a:t>
            </a:r>
            <a:endParaRPr lang="en-US" sz="12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</a:t>
            </a:r>
            <a:endParaRPr lang="en-US" sz="1250" dirty="0"/>
          </a:p>
        </p:txBody>
      </p:sp>
      <p:sp>
        <p:nvSpPr>
          <p:cNvPr id="28" name="Text 25"/>
          <p:cNvSpPr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SPOTIFY  •  PRODUCT PROPOSAL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72800" y="6537960"/>
            <a:ext cx="75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1005840"/>
            <a:ext cx="5120640" cy="5120640"/>
          </a:xfrm>
          <a:prstGeom prst="ellipse">
            <a:avLst/>
          </a:prstGeom>
          <a:solidFill>
            <a:srgbClr val="1ED760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1051560"/>
            <a:ext cx="2148840" cy="502920"/>
          </a:xfrm>
          <a:prstGeom prst="roundRect">
            <a:avLst>
              <a:gd name="adj" fmla="val 50909"/>
            </a:avLst>
          </a:prstGeom>
          <a:solidFill>
            <a:srgbClr val="14833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5156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2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94360" y="1874520"/>
            <a:ext cx="9601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5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Queue</a:t>
            </a:r>
            <a:endParaRPr lang="en-US" sz="5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5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Voting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640080" y="3977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1ED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fairness, built into every session.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9646920" y="4206240"/>
            <a:ext cx="1554480" cy="1554480"/>
          </a:xfrm>
          <a:prstGeom prst="ellipse">
            <a:avLst/>
          </a:prstGeom>
          <a:solidFill>
            <a:srgbClr val="1F1F1F"/>
          </a:solidFill>
          <a:ln/>
        </p:spPr>
      </p:sp>
      <p:pic>
        <p:nvPicPr>
          <p:cNvPr id="8" name="Image 0" descr="/home/claude/spotify_deck/icon_vot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1085" y="4610405"/>
            <a:ext cx="746150" cy="74615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SPOTIFY  •  PRODUCT PROPOSAL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0972800" y="6537960"/>
            <a:ext cx="75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ED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QUEUE VOTING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5074920" cy="1783080"/>
          </a:xfrm>
          <a:prstGeom prst="roundRect">
            <a:avLst>
              <a:gd name="adj" fmla="val 6154"/>
            </a:avLst>
          </a:prstGeom>
          <a:solidFill>
            <a:srgbClr val="191919"/>
          </a:solidFill>
          <a:ln/>
        </p:spPr>
      </p:sp>
      <p:sp>
        <p:nvSpPr>
          <p:cNvPr id="5" name="Shape 3"/>
          <p:cNvSpPr/>
          <p:nvPr/>
        </p:nvSpPr>
        <p:spPr>
          <a:xfrm>
            <a:off x="1005840" y="2468880"/>
            <a:ext cx="685800" cy="685800"/>
          </a:xfrm>
          <a:prstGeom prst="ellipse">
            <a:avLst/>
          </a:prstGeom>
          <a:solidFill>
            <a:srgbClr val="132118"/>
          </a:solidFill>
          <a:ln/>
        </p:spPr>
      </p:sp>
      <p:pic>
        <p:nvPicPr>
          <p:cNvPr id="6" name="Image 0" descr="/home/claude/spotify_deck/icon_vote_gre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7290" y="2640330"/>
            <a:ext cx="342900" cy="3429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74520" y="246888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Does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74520" y="2926080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Democratizes group listening with real-time voting on every track.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4206240"/>
            <a:ext cx="5074920" cy="1783080"/>
          </a:xfrm>
          <a:prstGeom prst="roundRect">
            <a:avLst>
              <a:gd name="adj" fmla="val 6154"/>
            </a:avLst>
          </a:prstGeom>
          <a:solidFill>
            <a:srgbClr val="191919"/>
          </a:solidFill>
          <a:ln/>
        </p:spPr>
      </p:sp>
      <p:sp>
        <p:nvSpPr>
          <p:cNvPr id="10" name="Shape 7"/>
          <p:cNvSpPr/>
          <p:nvPr/>
        </p:nvSpPr>
        <p:spPr>
          <a:xfrm>
            <a:off x="1005840" y="4526280"/>
            <a:ext cx="685800" cy="685800"/>
          </a:xfrm>
          <a:prstGeom prst="ellipse">
            <a:avLst/>
          </a:prstGeom>
          <a:solidFill>
            <a:srgbClr val="132118"/>
          </a:solidFill>
          <a:ln/>
        </p:spPr>
      </p:sp>
      <p:pic>
        <p:nvPicPr>
          <p:cNvPr id="11" name="Image 1" descr="/home/claude/spotify_deck/icon_activity_gre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7290" y="4697730"/>
            <a:ext cx="342900" cy="3429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74520" y="452628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74520" y="4983480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suggests songs and votes — the highest-voted track plays next.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172200" y="2148840"/>
            <a:ext cx="5394960" cy="3840480"/>
          </a:xfrm>
          <a:prstGeom prst="roundRect">
            <a:avLst>
              <a:gd name="adj" fmla="val 2857"/>
            </a:avLst>
          </a:prstGeom>
          <a:solidFill>
            <a:srgbClr val="14833F"/>
          </a:solidFill>
          <a:ln/>
        </p:spPr>
      </p:sp>
      <p:sp>
        <p:nvSpPr>
          <p:cNvPr id="15" name="Shape 11"/>
          <p:cNvSpPr/>
          <p:nvPr/>
        </p:nvSpPr>
        <p:spPr>
          <a:xfrm>
            <a:off x="6537960" y="2514600"/>
            <a:ext cx="685800" cy="685800"/>
          </a:xfrm>
          <a:prstGeom prst="ellipse">
            <a:avLst/>
          </a:prstGeom>
          <a:solidFill>
            <a:srgbClr val="0F5A2C"/>
          </a:solidFill>
          <a:ln/>
        </p:spPr>
      </p:sp>
      <p:pic>
        <p:nvPicPr>
          <p:cNvPr id="16" name="Image 2" descr="/home/claude/spotify_deck/icon_star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9410" y="2686050"/>
            <a:ext cx="342900" cy="3429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537960" y="333756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Perfect For</a:t>
            </a:r>
            <a:endParaRPr lang="en-US" sz="1900" dirty="0"/>
          </a:p>
        </p:txBody>
      </p:sp>
      <p:sp>
        <p:nvSpPr>
          <p:cNvPr id="18" name="Shape 13"/>
          <p:cNvSpPr/>
          <p:nvPr/>
        </p:nvSpPr>
        <p:spPr>
          <a:xfrm>
            <a:off x="6556248" y="3968496"/>
            <a:ext cx="82296" cy="8229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9" name="Text 14"/>
          <p:cNvSpPr/>
          <p:nvPr/>
        </p:nvSpPr>
        <p:spPr>
          <a:xfrm>
            <a:off x="6766560" y="388620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Parties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6556248" y="4471416"/>
            <a:ext cx="82296" cy="8229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1" name="Text 16"/>
          <p:cNvSpPr/>
          <p:nvPr/>
        </p:nvSpPr>
        <p:spPr>
          <a:xfrm>
            <a:off x="6766560" y="438912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trips</a:t>
            </a:r>
            <a:endParaRPr lang="en-US" sz="1400" dirty="0"/>
          </a:p>
        </p:txBody>
      </p:sp>
      <p:sp>
        <p:nvSpPr>
          <p:cNvPr id="22" name="Shape 17"/>
          <p:cNvSpPr/>
          <p:nvPr/>
        </p:nvSpPr>
        <p:spPr>
          <a:xfrm>
            <a:off x="6556248" y="4974336"/>
            <a:ext cx="82296" cy="8229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3" name="Text 18"/>
          <p:cNvSpPr/>
          <p:nvPr/>
        </p:nvSpPr>
        <p:spPr>
          <a:xfrm>
            <a:off x="6766560" y="489204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sessions</a:t>
            </a:r>
            <a:endParaRPr lang="en-US" sz="1400" dirty="0"/>
          </a:p>
        </p:txBody>
      </p:sp>
      <p:sp>
        <p:nvSpPr>
          <p:cNvPr id="24" name="Shape 19"/>
          <p:cNvSpPr/>
          <p:nvPr/>
        </p:nvSpPr>
        <p:spPr>
          <a:xfrm>
            <a:off x="6556248" y="5477256"/>
            <a:ext cx="82296" cy="8229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5" name="Text 20"/>
          <p:cNvSpPr/>
          <p:nvPr/>
        </p:nvSpPr>
        <p:spPr>
          <a:xfrm>
            <a:off x="6766560" y="539496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gatherings</a:t>
            </a:r>
            <a:endParaRPr lang="en-US" sz="1400" dirty="0"/>
          </a:p>
        </p:txBody>
      </p:sp>
      <p:sp>
        <p:nvSpPr>
          <p:cNvPr id="26" name="Text 21"/>
          <p:cNvSpPr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SPOTIFY  •  PRODUCT PROPOSAL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10972800" y="6537960"/>
            <a:ext cx="75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ED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these features matter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3429000" cy="3246120"/>
          </a:xfrm>
          <a:prstGeom prst="roundRect">
            <a:avLst>
              <a:gd name="adj" fmla="val 3380"/>
            </a:avLst>
          </a:prstGeom>
          <a:solidFill>
            <a:srgbClr val="191919"/>
          </a:solidFill>
          <a:ln/>
        </p:spPr>
      </p:sp>
      <p:sp>
        <p:nvSpPr>
          <p:cNvPr id="5" name="Shape 3"/>
          <p:cNvSpPr/>
          <p:nvPr/>
        </p:nvSpPr>
        <p:spPr>
          <a:xfrm>
            <a:off x="1005840" y="2514600"/>
            <a:ext cx="685800" cy="685800"/>
          </a:xfrm>
          <a:prstGeom prst="ellipse">
            <a:avLst/>
          </a:prstGeom>
          <a:solidFill>
            <a:srgbClr val="132118"/>
          </a:solidFill>
          <a:ln/>
        </p:spPr>
      </p:sp>
      <p:pic>
        <p:nvPicPr>
          <p:cNvPr id="6" name="Image 0" descr="/home/claude/spotify_deck/icon_heart_gre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7290" y="2686050"/>
            <a:ext cx="342900" cy="3429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338328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Mood Timeline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1024128" y="4005072"/>
            <a:ext cx="73152" cy="73152"/>
          </a:xfrm>
          <a:prstGeom prst="ellipse">
            <a:avLst/>
          </a:prstGeom>
          <a:solidFill>
            <a:srgbClr val="1ED760"/>
          </a:solidFill>
          <a:ln/>
        </p:spPr>
      </p:sp>
      <p:sp>
        <p:nvSpPr>
          <p:cNvPr id="9" name="Text 6"/>
          <p:cNvSpPr/>
          <p:nvPr/>
        </p:nvSpPr>
        <p:spPr>
          <a:xfrm>
            <a:off x="1225296" y="393192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Deeper personalization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1024128" y="4443984"/>
            <a:ext cx="73152" cy="73152"/>
          </a:xfrm>
          <a:prstGeom prst="ellipse">
            <a:avLst/>
          </a:prstGeom>
          <a:solidFill>
            <a:srgbClr val="1ED760"/>
          </a:solidFill>
          <a:ln/>
        </p:spPr>
      </p:sp>
      <p:sp>
        <p:nvSpPr>
          <p:cNvPr id="11" name="Text 8"/>
          <p:cNvSpPr/>
          <p:nvPr/>
        </p:nvSpPr>
        <p:spPr>
          <a:xfrm>
            <a:off x="1225296" y="4370832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Emotional connection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1024128" y="4882896"/>
            <a:ext cx="73152" cy="73152"/>
          </a:xfrm>
          <a:prstGeom prst="ellipse">
            <a:avLst/>
          </a:prstGeom>
          <a:solidFill>
            <a:srgbClr val="1ED760"/>
          </a:solidFill>
          <a:ln/>
        </p:spPr>
      </p:sp>
      <p:sp>
        <p:nvSpPr>
          <p:cNvPr id="13" name="Text 10"/>
          <p:cNvSpPr/>
          <p:nvPr/>
        </p:nvSpPr>
        <p:spPr>
          <a:xfrm>
            <a:off x="1225296" y="4809744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engagement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4379976" y="2148840"/>
            <a:ext cx="3429000" cy="3246120"/>
          </a:xfrm>
          <a:prstGeom prst="roundRect">
            <a:avLst>
              <a:gd name="adj" fmla="val 3380"/>
            </a:avLst>
          </a:prstGeom>
          <a:solidFill>
            <a:srgbClr val="191919"/>
          </a:solidFill>
          <a:ln/>
        </p:spPr>
      </p:sp>
      <p:sp>
        <p:nvSpPr>
          <p:cNvPr id="15" name="Shape 12"/>
          <p:cNvSpPr/>
          <p:nvPr/>
        </p:nvSpPr>
        <p:spPr>
          <a:xfrm>
            <a:off x="4745736" y="2514600"/>
            <a:ext cx="685800" cy="685800"/>
          </a:xfrm>
          <a:prstGeom prst="ellipse">
            <a:avLst/>
          </a:prstGeom>
          <a:solidFill>
            <a:srgbClr val="132118"/>
          </a:solidFill>
          <a:ln/>
        </p:spPr>
      </p:sp>
      <p:pic>
        <p:nvPicPr>
          <p:cNvPr id="16" name="Image 1" descr="/home/claude/spotify_deck/icon_vote_gre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7186" y="2686050"/>
            <a:ext cx="342900" cy="3429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745736" y="338328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Queue Voting</a:t>
            </a:r>
            <a:endParaRPr lang="en-US" sz="1700" dirty="0"/>
          </a:p>
        </p:txBody>
      </p:sp>
      <p:sp>
        <p:nvSpPr>
          <p:cNvPr id="18" name="Shape 14"/>
          <p:cNvSpPr/>
          <p:nvPr/>
        </p:nvSpPr>
        <p:spPr>
          <a:xfrm>
            <a:off x="4764024" y="4005072"/>
            <a:ext cx="73152" cy="73152"/>
          </a:xfrm>
          <a:prstGeom prst="ellipse">
            <a:avLst/>
          </a:prstGeom>
          <a:solidFill>
            <a:srgbClr val="1ED760"/>
          </a:solidFill>
          <a:ln/>
        </p:spPr>
      </p:sp>
      <p:sp>
        <p:nvSpPr>
          <p:cNvPr id="19" name="Text 15"/>
          <p:cNvSpPr/>
          <p:nvPr/>
        </p:nvSpPr>
        <p:spPr>
          <a:xfrm>
            <a:off x="4965192" y="393192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fairness</a:t>
            </a:r>
            <a:endParaRPr lang="en-US" sz="1250" dirty="0"/>
          </a:p>
        </p:txBody>
      </p:sp>
      <p:sp>
        <p:nvSpPr>
          <p:cNvPr id="20" name="Shape 16"/>
          <p:cNvSpPr/>
          <p:nvPr/>
        </p:nvSpPr>
        <p:spPr>
          <a:xfrm>
            <a:off x="4764024" y="4443984"/>
            <a:ext cx="73152" cy="73152"/>
          </a:xfrm>
          <a:prstGeom prst="ellipse">
            <a:avLst/>
          </a:prstGeom>
          <a:solidFill>
            <a:srgbClr val="1ED760"/>
          </a:solidFill>
          <a:ln/>
        </p:spPr>
      </p:sp>
      <p:sp>
        <p:nvSpPr>
          <p:cNvPr id="21" name="Text 17"/>
          <p:cNvSpPr/>
          <p:nvPr/>
        </p:nvSpPr>
        <p:spPr>
          <a:xfrm>
            <a:off x="4965192" y="4370832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listening</a:t>
            </a:r>
            <a:endParaRPr lang="en-US" sz="1250" dirty="0"/>
          </a:p>
        </p:txBody>
      </p:sp>
      <p:sp>
        <p:nvSpPr>
          <p:cNvPr id="22" name="Shape 18"/>
          <p:cNvSpPr/>
          <p:nvPr/>
        </p:nvSpPr>
        <p:spPr>
          <a:xfrm>
            <a:off x="4764024" y="4882896"/>
            <a:ext cx="73152" cy="73152"/>
          </a:xfrm>
          <a:prstGeom prst="ellipse">
            <a:avLst/>
          </a:prstGeom>
          <a:solidFill>
            <a:srgbClr val="1ED760"/>
          </a:solidFill>
          <a:ln/>
        </p:spPr>
      </p:sp>
      <p:sp>
        <p:nvSpPr>
          <p:cNvPr id="23" name="Text 19"/>
          <p:cNvSpPr/>
          <p:nvPr/>
        </p:nvSpPr>
        <p:spPr>
          <a:xfrm>
            <a:off x="4965192" y="4809744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included</a:t>
            </a:r>
            <a:endParaRPr lang="en-US" sz="1250" dirty="0"/>
          </a:p>
        </p:txBody>
      </p:sp>
      <p:sp>
        <p:nvSpPr>
          <p:cNvPr id="24" name="Shape 20"/>
          <p:cNvSpPr/>
          <p:nvPr/>
        </p:nvSpPr>
        <p:spPr>
          <a:xfrm>
            <a:off x="8119872" y="2148840"/>
            <a:ext cx="3429000" cy="3246120"/>
          </a:xfrm>
          <a:prstGeom prst="roundRect">
            <a:avLst>
              <a:gd name="adj" fmla="val 3380"/>
            </a:avLst>
          </a:prstGeom>
          <a:solidFill>
            <a:srgbClr val="14833F"/>
          </a:solidFill>
          <a:ln/>
        </p:spPr>
      </p:sp>
      <p:sp>
        <p:nvSpPr>
          <p:cNvPr id="25" name="Shape 21"/>
          <p:cNvSpPr/>
          <p:nvPr/>
        </p:nvSpPr>
        <p:spPr>
          <a:xfrm>
            <a:off x="8485632" y="2514600"/>
            <a:ext cx="685800" cy="685800"/>
          </a:xfrm>
          <a:prstGeom prst="ellipse">
            <a:avLst/>
          </a:prstGeom>
          <a:solidFill>
            <a:srgbClr val="0F5A2C"/>
          </a:solidFill>
          <a:ln/>
        </p:spPr>
      </p:sp>
      <p:pic>
        <p:nvPicPr>
          <p:cNvPr id="26" name="Image 2" descr="/home/claude/spotify_deck/icon_sparkles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7082" y="2686050"/>
            <a:ext cx="342900" cy="34290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8485632" y="338328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Together</a:t>
            </a:r>
            <a:endParaRPr lang="en-US" sz="1700" dirty="0"/>
          </a:p>
        </p:txBody>
      </p:sp>
      <p:sp>
        <p:nvSpPr>
          <p:cNvPr id="28" name="Shape 23"/>
          <p:cNvSpPr/>
          <p:nvPr/>
        </p:nvSpPr>
        <p:spPr>
          <a:xfrm>
            <a:off x="8503920" y="4005072"/>
            <a:ext cx="73152" cy="7315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9" name="Text 24"/>
          <p:cNvSpPr/>
          <p:nvPr/>
        </p:nvSpPr>
        <p:spPr>
          <a:xfrm>
            <a:off x="8705088" y="393192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personal</a:t>
            </a:r>
            <a:endParaRPr lang="en-US" sz="1250" dirty="0"/>
          </a:p>
        </p:txBody>
      </p:sp>
      <p:sp>
        <p:nvSpPr>
          <p:cNvPr id="30" name="Shape 25"/>
          <p:cNvSpPr/>
          <p:nvPr/>
        </p:nvSpPr>
        <p:spPr>
          <a:xfrm>
            <a:off x="8503920" y="4443984"/>
            <a:ext cx="73152" cy="7315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1" name="Text 26"/>
          <p:cNvSpPr/>
          <p:nvPr/>
        </p:nvSpPr>
        <p:spPr>
          <a:xfrm>
            <a:off x="8705088" y="4370832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social</a:t>
            </a:r>
            <a:endParaRPr lang="en-US" sz="1250" dirty="0"/>
          </a:p>
        </p:txBody>
      </p:sp>
      <p:sp>
        <p:nvSpPr>
          <p:cNvPr id="32" name="Shape 27"/>
          <p:cNvSpPr/>
          <p:nvPr/>
        </p:nvSpPr>
        <p:spPr>
          <a:xfrm>
            <a:off x="8503920" y="4882896"/>
            <a:ext cx="73152" cy="7315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3" name="Text 28"/>
          <p:cNvSpPr/>
          <p:nvPr/>
        </p:nvSpPr>
        <p:spPr>
          <a:xfrm>
            <a:off x="8705088" y="4809744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a richer Spotify experience</a:t>
            </a:r>
            <a:endParaRPr lang="en-US" sz="1250" dirty="0"/>
          </a:p>
        </p:txBody>
      </p:sp>
      <p:sp>
        <p:nvSpPr>
          <p:cNvPr id="34" name="Text 29"/>
          <p:cNvSpPr/>
          <p:nvPr/>
        </p:nvSpPr>
        <p:spPr>
          <a:xfrm>
            <a:off x="640080" y="5623560"/>
            <a:ext cx="10881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i="1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features. One goal: make every listening moment feel personal — and every shared session feel fair.</a:t>
            </a:r>
            <a:endParaRPr lang="en-US" sz="1450" dirty="0"/>
          </a:p>
        </p:txBody>
      </p:sp>
      <p:sp>
        <p:nvSpPr>
          <p:cNvPr id="35" name="Text 30"/>
          <p:cNvSpPr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SPOTIFY  •  PRODUCT PROPOSAL</a:t>
            </a:r>
            <a:endParaRPr lang="en-US" sz="900" dirty="0"/>
          </a:p>
        </p:txBody>
      </p:sp>
      <p:sp>
        <p:nvSpPr>
          <p:cNvPr id="36" name="Text 31"/>
          <p:cNvSpPr/>
          <p:nvPr/>
        </p:nvSpPr>
        <p:spPr>
          <a:xfrm>
            <a:off x="10972800" y="6537960"/>
            <a:ext cx="75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2026-08-06T11:00:11Z</dcterms:created>
  <dcterms:modified xsi:type="dcterms:W3CDTF">2026-08-06T11:00:11Z</dcterms:modified>
</cp:coreProperties>
</file>